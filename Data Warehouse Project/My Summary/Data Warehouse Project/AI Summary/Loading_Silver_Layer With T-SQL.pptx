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8745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29260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 ·  ETL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the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Layer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21792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silver.load_silver cleanses, standardizes, and reshapes six Bronze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from the CRM and ERP systems into trusted Silver tables.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120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5193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4248" y="521208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52120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5808" y="5193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28416" y="521208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52120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silver.load_silver  ·  T-SQL Stored Procedure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follows the same two-step pattern inside one TRY / CATCH block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Silver table is fully truncated before reload, so the layer always reflects the latest Bronze snapshot.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8013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TRANSFORM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standardized data is inserted — trimming text, mapping codes, fixing dates, and deduplicating rows.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60020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8288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18013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DURATION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01000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 timestamps are captured per table and printed, plus one total duration for the whole batch.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Bronze tables are loaded, in this order: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crm_cust_info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crm_prd_info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40233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crm_sales_details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93208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02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erp_cust_az12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550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customer demographics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5093208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5202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erp_loc_a101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5550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customer location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38160" y="5093208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5202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erp_px_cat_g1v2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5550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product categories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crm_cust_info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data — CRM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5"/>
                </a:solidFill>
              </a:rPr>
              <a:t>SRC 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bronze.crm_cust_info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TGT  </a:t>
            </a:r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silver.crm_cust_info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22219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customers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247802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partitioned by cst_id, ordered by cst_create_date DESC.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" y="322783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incomplete rows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348386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 NULL cst_id are filtered out before deduplication.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423367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text fields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9536" y="448970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cst_firstname and cst_lastname are stripped of whitespace.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57200" y="528523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9536" y="523951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codes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9536" y="549554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(S/M) and gender (F/M) mapped to readable values; else 'n/a'.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806440" y="1874520"/>
            <a:ext cx="5925312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37" name="Shape 35"/>
          <p:cNvSpPr/>
          <p:nvPr/>
        </p:nvSpPr>
        <p:spPr>
          <a:xfrm>
            <a:off x="6007608" y="2039112"/>
            <a:ext cx="109728" cy="109728"/>
          </a:xfrm>
          <a:prstGeom prst="ellipse">
            <a:avLst/>
          </a:prstGeom>
          <a:solidFill>
            <a:srgbClr val="E0645C"/>
          </a:solidFill>
          <a:ln/>
        </p:spPr>
      </p:sp>
      <p:sp>
        <p:nvSpPr>
          <p:cNvPr id="38" name="Shape 36"/>
          <p:cNvSpPr/>
          <p:nvPr/>
        </p:nvSpPr>
        <p:spPr>
          <a:xfrm>
            <a:off x="6208776" y="2039112"/>
            <a:ext cx="109728" cy="109728"/>
          </a:xfrm>
          <a:prstGeom prst="ellipse">
            <a:avLst/>
          </a:prstGeom>
          <a:solidFill>
            <a:srgbClr val="E5C558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9944" y="2039112"/>
            <a:ext cx="109728" cy="109728"/>
          </a:xfrm>
          <a:prstGeom prst="ellipse">
            <a:avLst/>
          </a:prstGeom>
          <a:solidFill>
            <a:srgbClr val="60C562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196596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T-SQL — from silver.load_silver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62472" y="231343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062472" y="245516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cst_id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6062472" y="259689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cst_key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062472" y="273862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cst_firstname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cst_firstname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6062472" y="288036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cst_lastname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cst_lastname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6062472" y="302209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6062472" y="316382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cst_marital_status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6062472" y="330555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'Single'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6062472" y="344728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cst_marital_status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6062472" y="358902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'Married'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6062472" y="373075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'n/a'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6062472" y="387248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cst_marital_status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6062472" y="401421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6062472" y="415594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cst_gndr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'Female'</a:t>
            </a: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6062472" y="429768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cst_gndr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'Male'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6062472" y="443941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'n/a'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6062472" y="458114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cst_gndr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6062472" y="472287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cst_create_date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6062472" y="486460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6062472" y="500634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*,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6062472" y="514807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6062472" y="528980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cst_id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6062472" y="543153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cst_create_date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860" dirty="0"/>
          </a:p>
        </p:txBody>
      </p:sp>
      <p:sp>
        <p:nvSpPr>
          <p:cNvPr id="64" name="Text 62"/>
          <p:cNvSpPr/>
          <p:nvPr/>
        </p:nvSpPr>
        <p:spPr>
          <a:xfrm>
            <a:off x="6062472" y="557326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flag_last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6062472" y="571500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crm_cust_info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6062472" y="585673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cst_id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6062472" y="599846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60" dirty="0"/>
          </a:p>
        </p:txBody>
      </p:sp>
      <p:sp>
        <p:nvSpPr>
          <p:cNvPr id="68" name="Text 66"/>
          <p:cNvSpPr/>
          <p:nvPr/>
        </p:nvSpPr>
        <p:spPr>
          <a:xfrm>
            <a:off x="6062472" y="614019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flag_last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1;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crm_prd_info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— CRM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5"/>
                </a:solidFill>
              </a:rPr>
              <a:t>SRC 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bronze.crm_prd_info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TGT  </a:t>
            </a:r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silver.crm_prd_info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22219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product key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247802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chars (with '-' → '_') become cat_id; remainder is the cleaned prd_key.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" y="322783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missing cost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348386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prd_cost values are replaced with 0 via ISNULL().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423367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product line codes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9536" y="448970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M/R/S/T expand to Mountain/Road/Other Sales/Touring; else 'n/a'.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57200" y="5285232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9536" y="523951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end date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9536" y="549554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LEAD() looks at the next row's start date (per prd_key) minus 1 day.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806440" y="1874520"/>
            <a:ext cx="5925312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37" name="Shape 35"/>
          <p:cNvSpPr/>
          <p:nvPr/>
        </p:nvSpPr>
        <p:spPr>
          <a:xfrm>
            <a:off x="6007608" y="2039112"/>
            <a:ext cx="109728" cy="109728"/>
          </a:xfrm>
          <a:prstGeom prst="ellipse">
            <a:avLst/>
          </a:prstGeom>
          <a:solidFill>
            <a:srgbClr val="E0645C"/>
          </a:solidFill>
          <a:ln/>
        </p:spPr>
      </p:sp>
      <p:sp>
        <p:nvSpPr>
          <p:cNvPr id="38" name="Shape 36"/>
          <p:cNvSpPr/>
          <p:nvPr/>
        </p:nvSpPr>
        <p:spPr>
          <a:xfrm>
            <a:off x="6208776" y="2039112"/>
            <a:ext cx="109728" cy="109728"/>
          </a:xfrm>
          <a:prstGeom prst="ellipse">
            <a:avLst/>
          </a:prstGeom>
          <a:solidFill>
            <a:srgbClr val="E5C558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9944" y="2039112"/>
            <a:ext cx="109728" cy="109728"/>
          </a:xfrm>
          <a:prstGeom prst="ellipse">
            <a:avLst/>
          </a:prstGeom>
          <a:solidFill>
            <a:srgbClr val="60C562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196596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T-SQL — from silver.load_silver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62472" y="231343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062472" y="245516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prd_id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6062472" y="259689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prd_key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,1,5),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062472" y="273862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cat_id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6062472" y="288036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prd_key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,7,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prd_key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6062472" y="302209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prd_key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6062472" y="316382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prd_nm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6062472" y="330555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prd_cost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0)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prd_cost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6062472" y="344728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6062472" y="358902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prd_line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6062472" y="373075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'Mountain'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6062472" y="387248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prd_line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'Road'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6062472" y="401421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prd_line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6062472" y="415594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'Other Sales'</a:t>
            </a: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6062472" y="429768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prd_line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'T'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6062472" y="443941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'Touring'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6062472" y="458114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'n/a'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6062472" y="472287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prd_line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6062472" y="486460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prd_start_dt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prd_start_dt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6062472" y="500634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6062472" y="514807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prd_start_dt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6062472" y="528980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prd_key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6062472" y="543153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prd_start_dt</a:t>
            </a:r>
            <a:endParaRPr lang="en-US" sz="860" dirty="0"/>
          </a:p>
        </p:txBody>
      </p:sp>
      <p:sp>
        <p:nvSpPr>
          <p:cNvPr id="64" name="Text 62"/>
          <p:cNvSpPr/>
          <p:nvPr/>
        </p:nvSpPr>
        <p:spPr>
          <a:xfrm>
            <a:off x="6062472" y="557326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- 1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6062472" y="571500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prd_end_dt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6062472" y="585673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crm_prd_info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crm_sales_details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 — CRM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5"/>
                </a:solidFill>
              </a:rPr>
              <a:t>SRC 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bronze.crm_sales_details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TGT  </a:t>
            </a:r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silver.crm_sales_details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22219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integer dates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247802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8-digit int dates; 0 or wrong length → NULL, else CAST to DATE.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" y="322783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sales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348386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missing, ≤0, or ≠ qty × |price| → recomputed as qty × ABS(price).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423367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unit price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9536" y="448970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missing or ≤ 0 → sales / quantity, guarded with NULLIF.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806440" y="1874520"/>
            <a:ext cx="5925312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007608" y="2039112"/>
            <a:ext cx="109728" cy="109728"/>
          </a:xfrm>
          <a:prstGeom prst="ellipse">
            <a:avLst/>
          </a:prstGeom>
          <a:solidFill>
            <a:srgbClr val="E0645C"/>
          </a:solidFill>
          <a:ln/>
        </p:spPr>
      </p:sp>
      <p:sp>
        <p:nvSpPr>
          <p:cNvPr id="34" name="Shape 32"/>
          <p:cNvSpPr/>
          <p:nvPr/>
        </p:nvSpPr>
        <p:spPr>
          <a:xfrm>
            <a:off x="6208776" y="2039112"/>
            <a:ext cx="109728" cy="109728"/>
          </a:xfrm>
          <a:prstGeom prst="ellipse">
            <a:avLst/>
          </a:prstGeom>
          <a:solidFill>
            <a:srgbClr val="E5C558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9944" y="2039112"/>
            <a:ext cx="109728" cy="109728"/>
          </a:xfrm>
          <a:prstGeom prst="ellipse">
            <a:avLst/>
          </a:prstGeom>
          <a:solidFill>
            <a:srgbClr val="60C562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96596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T-SQL — from silver.load_silver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62472" y="231343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6062472" y="245516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sls_ord_num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sls_prd_key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sls_cust_id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062472" y="259689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sls_order_dt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 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6062472" y="273862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sls_order_dt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!= 8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6062472" y="288036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sls_order_dt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062472" y="302209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6062472" y="316382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sls_order_dt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062472" y="330555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sls_ship_dt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 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6062472" y="344728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sls_ship_dt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!= 8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6062472" y="358902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sls_ship_dt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6062472" y="373075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6062472" y="387248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sls_ship_dt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6062472" y="401421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sls_due_dt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 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6062472" y="415594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sls_due_dt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!= 8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6062472" y="429768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sls_due_dt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6062472" y="443941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6062472" y="458114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sls_due_dt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6062472" y="472287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sls_sales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sls_sales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0 </a:t>
            </a: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6062472" y="486460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sls_sales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sls_quantity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sls_price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6062472" y="500634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sls_quantity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sls_price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6062472" y="514807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sls_sales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6062472" y="528980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sls_sales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6062472" y="543153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sls_quantity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6062472" y="5573268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sls_price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sls_price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0 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6062472" y="5715000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sls_sales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NULLIF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sls_quantity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0)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6062472" y="5856732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sls_price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6062472" y="5998464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sls_price</a:t>
            </a:r>
            <a:endParaRPr lang="en-US" sz="860" dirty="0"/>
          </a:p>
        </p:txBody>
      </p:sp>
      <p:sp>
        <p:nvSpPr>
          <p:cNvPr id="64" name="Text 62"/>
          <p:cNvSpPr/>
          <p:nvPr/>
        </p:nvSpPr>
        <p:spPr>
          <a:xfrm>
            <a:off x="6062472" y="6140196"/>
            <a:ext cx="546811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crm_sales_details</a:t>
            </a:r>
            <a:pPr indent="0" marL="0">
              <a:lnSpc>
                <a:spcPts val="1010"/>
              </a:lnSpc>
              <a:buNone/>
            </a:pPr>
            <a:r>
              <a:rPr lang="en-US" sz="8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erp_cust_az12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— ERP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5"/>
                </a:solidFill>
              </a:rPr>
              <a:t>SRC 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bronze.erp_cust_az12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TGT  </a:t>
            </a:r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silver.erp_cust_az12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22219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'NAS' prefix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247802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cid begins with 'NAS', the prefix is removed.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" y="322783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Nullify future birthdates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348386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bdate later than today is treated as bad data → NULL.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423367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gender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9536" y="448970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F/FEMALE → Female, M/MALE → Male; else 'n/a'.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806440" y="1874520"/>
            <a:ext cx="5925312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007608" y="2039112"/>
            <a:ext cx="109728" cy="109728"/>
          </a:xfrm>
          <a:prstGeom prst="ellipse">
            <a:avLst/>
          </a:prstGeom>
          <a:solidFill>
            <a:srgbClr val="E0645C"/>
          </a:solidFill>
          <a:ln/>
        </p:spPr>
      </p:sp>
      <p:sp>
        <p:nvSpPr>
          <p:cNvPr id="34" name="Shape 32"/>
          <p:cNvSpPr/>
          <p:nvPr/>
        </p:nvSpPr>
        <p:spPr>
          <a:xfrm>
            <a:off x="6208776" y="2039112"/>
            <a:ext cx="109728" cy="109728"/>
          </a:xfrm>
          <a:prstGeom prst="ellipse">
            <a:avLst/>
          </a:prstGeom>
          <a:solidFill>
            <a:srgbClr val="E5C558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9944" y="2039112"/>
            <a:ext cx="109728" cy="109728"/>
          </a:xfrm>
          <a:prstGeom prst="ellipse">
            <a:avLst/>
          </a:prstGeom>
          <a:solidFill>
            <a:srgbClr val="60C562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96596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T-SQL — from silver.load_silver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62472" y="2313432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6062472" y="2470709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6062472" y="262798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'NAS%'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6062472" y="2785262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4,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6062472" y="2942539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6062472" y="309981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6062472" y="3257093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6062472" y="3414370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bdate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GETDATE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6062472" y="357164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bdate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6062472" y="3728923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bdate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6062472" y="3886200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6062472" y="4043477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'FEMALE'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6062472" y="4200754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'Female'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6062472" y="4358030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'MALE'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6062472" y="4515307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'Male'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6062472" y="4672584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'n/a'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6062472" y="4829861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6062472" y="4987138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.erp_cust_az12;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erp_loc_a101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location — ERP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5"/>
                </a:solidFill>
              </a:rPr>
              <a:t>SRC 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bronze.erp_loc_a101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TGT  </a:t>
            </a:r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silver.erp_loc_a101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22219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customer key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247802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Hyphens are removed from cid to match the Silver key format.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" y="322783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country names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348386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→ Germany, US/USA → United States, blank/NULL → 'n/a'.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806440" y="1874520"/>
            <a:ext cx="5925312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6007608" y="2039112"/>
            <a:ext cx="109728" cy="109728"/>
          </a:xfrm>
          <a:prstGeom prst="ellipse">
            <a:avLst/>
          </a:prstGeom>
          <a:solidFill>
            <a:srgbClr val="E0645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08776" y="2039112"/>
            <a:ext cx="109728" cy="109728"/>
          </a:xfrm>
          <a:prstGeom prst="ellipse">
            <a:avLst/>
          </a:prstGeom>
          <a:solidFill>
            <a:srgbClr val="E5C55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9944" y="2039112"/>
            <a:ext cx="109728" cy="109728"/>
          </a:xfrm>
          <a:prstGeom prst="ellipse">
            <a:avLst/>
          </a:prstGeom>
          <a:solidFill>
            <a:srgbClr val="60C562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196596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T-SQL — from silver.load_silver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62472" y="2313432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6062472" y="2470709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6062472" y="262798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6062472" y="2785262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cntry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'Germany'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6062472" y="2942539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cntry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'USA'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6062472" y="309981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'United States'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6062472" y="3257093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cntry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cntry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6062472" y="3414370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'n/a'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6062472" y="357164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cntry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6062472" y="3728923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cntry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6062472" y="3886200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.erp_loc_a101;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erp_px_cat_g1v2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— ERP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0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365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3840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5"/>
                </a:solidFill>
              </a:rPr>
              <a:t>SRC 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bronze.erp_px_cat_g1v2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20700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TGT  </a:t>
            </a:r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silver.erp_px_cat_g1v2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22219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pass-through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247802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cat, subcat, and maintenance are already clean — no CASE logic.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" y="322783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include it at all?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348386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Truncate-and-reload still applies, keeping it in sync with Bronze.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806440" y="1874520"/>
            <a:ext cx="5925312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6007608" y="2039112"/>
            <a:ext cx="109728" cy="109728"/>
          </a:xfrm>
          <a:prstGeom prst="ellipse">
            <a:avLst/>
          </a:prstGeom>
          <a:solidFill>
            <a:srgbClr val="E0645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08776" y="2039112"/>
            <a:ext cx="109728" cy="109728"/>
          </a:xfrm>
          <a:prstGeom prst="ellipse">
            <a:avLst/>
          </a:prstGeom>
          <a:solidFill>
            <a:srgbClr val="E5C55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9944" y="2039112"/>
            <a:ext cx="109728" cy="109728"/>
          </a:xfrm>
          <a:prstGeom prst="ellipse">
            <a:avLst/>
          </a:prstGeom>
          <a:solidFill>
            <a:srgbClr val="60C562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196596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T-SQL — from silver.load_silver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62472" y="2313432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6062472" y="2470709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6062472" y="262798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6062472" y="2785262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subcat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6062472" y="2942539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6062472" y="3099816"/>
            <a:ext cx="54681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10"/>
              </a:lnSpc>
              <a:buNone/>
            </a:pPr>
            <a:r>
              <a:rPr lang="en-US" sz="960" b="1" dirty="0">
                <a:solidFill>
                  <a:srgbClr val="6FB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ts val="1110"/>
              </a:lnSpc>
              <a:buNone/>
            </a:pPr>
            <a:r>
              <a:rPr lang="en-US" sz="960" dirty="0">
                <a:solidFill>
                  <a:srgbClr val="E7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.erp_px_cat_g1v2;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Logging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load runs inside one TRY / CATCH block, with timing captured at every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5877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414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@batch_start_time at the very start of the run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13639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90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all six tables in sequence: CRM tables first, then ERP tables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68503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table's TRUNCATE + INSERT is timed with @start_time / @end_time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2336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0873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statements report each table's load duration in seconds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478231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636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@batch_end_time is captured once all tables finish loading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3309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184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PRINT reports total batch duration for the whole procedure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422392" cy="4297680"/>
          </a:xfrm>
          <a:prstGeom prst="roundRect">
            <a:avLst>
              <a:gd name="adj" fmla="val 1915"/>
            </a:avLst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CATCH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fails, execution jumps here and the procedure prints three diagnostics instead of throwing an unhandled error: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32918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ERROR_MESSAGE()   </a:t>
            </a:r>
            <a:pPr indent="0" marL="0">
              <a:buNone/>
            </a:pPr>
            <a:r>
              <a:rPr lang="en-US" sz="1050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of what went wrong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3913632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3913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ERROR_NUMBER()   </a:t>
            </a:r>
            <a:pPr indent="0" marL="0">
              <a:buNone/>
            </a:pPr>
            <a:r>
              <a:rPr lang="en-US" sz="1050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Server error code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4535424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45354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ERROR_STATE()   </a:t>
            </a:r>
            <a:pPr indent="0" marL="0">
              <a:buNone/>
            </a:pPr>
            <a:r>
              <a:rPr lang="en-US" sz="1050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state, for diagnostics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52943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CATCH block logs the error but does not re-throw or roll back —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steps should check for it explicitly.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52120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598932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trusted Silver Layer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423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Bronze tables — cleansed, standardized, and deduplicated —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Gold layer's business-ready views.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loaded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8328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— CRM &amp; ERP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2648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wrapped procedure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silver.load_silver;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2026-09-02T00:07:16Z</dcterms:created>
  <dcterms:modified xsi:type="dcterms:W3CDTF">2026-09-02T00:07:16Z</dcterms:modified>
</cp:coreProperties>
</file>