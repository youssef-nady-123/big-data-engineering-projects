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82296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187452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292608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065A82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  ·  ETL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the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 Layer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21792" y="4069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silver.load_silver cleanses, standardizes, and reshapes six Bronze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from the CRM and ERP systems into trusted Silver tables.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21208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2120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5193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84248" y="521208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248" y="52120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35808" y="5193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28416" y="521208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52120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silver.load_silver  ·  T-SQL Stored Procedure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follows the same two-step pattern inside one TRY / CATCH block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46120" cy="1737360"/>
          </a:xfrm>
          <a:prstGeom prst="roundRect">
            <a:avLst>
              <a:gd name="adj" fmla="val 4737"/>
            </a:avLst>
          </a:prstGeom>
          <a:solidFill>
            <a:srgbClr val="F5F9FB"/>
          </a:solidFill>
          <a:ln w="12700">
            <a:solidFill>
              <a:srgbClr val="E3EB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013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Silver table is fully truncated before reload, so the layer always reflects the latest Bronze snapshot.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1600200"/>
            <a:ext cx="3246120" cy="1737360"/>
          </a:xfrm>
          <a:prstGeom prst="roundRect">
            <a:avLst>
              <a:gd name="adj" fmla="val 4737"/>
            </a:avLst>
          </a:prstGeom>
          <a:solidFill>
            <a:srgbClr val="F5F9FB"/>
          </a:solidFill>
          <a:ln w="12700">
            <a:solidFill>
              <a:srgbClr val="E3EB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82880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83480" y="18013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· TRANSFORM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89120" y="24231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Cleansed, standardized data is inserted — trimming text, mapping codes, fixing dates, and deduplicating rows.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0" y="1600200"/>
            <a:ext cx="3246120" cy="1737360"/>
          </a:xfrm>
          <a:prstGeom prst="roundRect">
            <a:avLst>
              <a:gd name="adj" fmla="val 4737"/>
            </a:avLst>
          </a:prstGeom>
          <a:solidFill>
            <a:srgbClr val="F5F9FB"/>
          </a:solidFill>
          <a:ln w="12700">
            <a:solidFill>
              <a:srgbClr val="E3EB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18288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95360" y="18013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DURATION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001000" y="24231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Start/end timestamps are captured per table and printed, plus one total duration for the whole batch.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Bronze tables are loaded, in this order: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CF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33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crm_cust_info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480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master data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43400" y="402336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CF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4133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crm_prd_info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26280" y="4480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38160" y="402336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CF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4133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crm_sales_details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21040" y="4480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transactions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093208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CF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2029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erp_cust_az12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5550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customer demographics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43400" y="5093208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CF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4526280" y="52029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erp_loc_a101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26280" y="5550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customer location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138160" y="5093208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CF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8321040" y="52029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erp_px_cat_g1v2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21040" y="5550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product categories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 ·  BRONZE → SILVER ETL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56032"/>
            <a:ext cx="713232" cy="7132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crm_cust_info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master data — CRM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0" y="47548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4754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281160" y="457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73768" y="47548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73768" y="4754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25328" y="457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17936" y="47548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17936" y="4754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463040"/>
            <a:ext cx="5120640" cy="566928"/>
          </a:xfrm>
          <a:prstGeom prst="roundRect">
            <a:avLst>
              <a:gd name="adj" fmla="val 11290"/>
            </a:avLst>
          </a:prstGeom>
          <a:solidFill>
            <a:srgbClr val="F5F9FB"/>
          </a:solidFill>
          <a:ln w="12700">
            <a:solidFill>
              <a:srgbClr val="E3E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14630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75"/>
                </a:solidFill>
              </a:rPr>
              <a:t>SOURCE   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bronze.crm_cust_info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06440" y="1463040"/>
            <a:ext cx="5120640" cy="566928"/>
          </a:xfrm>
          <a:prstGeom prst="roundRect">
            <a:avLst>
              <a:gd name="adj" fmla="val 11290"/>
            </a:avLst>
          </a:prstGeom>
          <a:solidFill>
            <a:srgbClr val="CF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4630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TARGET   </a:t>
            </a:r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silver.crm_cust_info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Transformations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280720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8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276148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customers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51560" y="3026664"/>
            <a:ext cx="99669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 partitioned by cst_id, ordered by cst_create_date DESC — only the most recent record per customer survives.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356158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5615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51586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incomplete rows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51560" y="3781044"/>
            <a:ext cx="99669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a NULL cst_id are filtered out before deduplication.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48640" y="4315968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315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4270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text fields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51560" y="4535424"/>
            <a:ext cx="99669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cst_firstname and cst_lastname are stripped of leading / trailing whitespace.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548640" y="5070348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0703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" y="502462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codes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51560" y="5289804"/>
            <a:ext cx="99669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 (S/M) and gender (F/M) codes are mapped to readable values; anything else becomes 'n/a'.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7818120" y="493776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21295C"/>
          </a:solidFill>
          <a:ln/>
        </p:spPr>
      </p:sp>
      <p:sp>
        <p:nvSpPr>
          <p:cNvPr id="37" name="Text 35"/>
          <p:cNvSpPr/>
          <p:nvPr/>
        </p:nvSpPr>
        <p:spPr>
          <a:xfrm>
            <a:off x="8001000" y="4937760"/>
            <a:ext cx="347472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cst_marital_status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'S' → 'Single'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'M' → 'Married'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NULL/other → 'n/a'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 ·  BRONZE → SILVER ETL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56032"/>
            <a:ext cx="713232" cy="7132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crm_prd_info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— CRM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0" y="47548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4754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281160" y="457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73768" y="47548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73768" y="4754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25328" y="457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17936" y="47548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17936" y="4754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463040"/>
            <a:ext cx="5120640" cy="566928"/>
          </a:xfrm>
          <a:prstGeom prst="roundRect">
            <a:avLst>
              <a:gd name="adj" fmla="val 11290"/>
            </a:avLst>
          </a:prstGeom>
          <a:solidFill>
            <a:srgbClr val="F5F9FB"/>
          </a:solidFill>
          <a:ln w="12700">
            <a:solidFill>
              <a:srgbClr val="E3E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14630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75"/>
                </a:solidFill>
              </a:rPr>
              <a:t>SOURCE   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bronze.crm_prd_info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06440" y="1463040"/>
            <a:ext cx="5120640" cy="566928"/>
          </a:xfrm>
          <a:prstGeom prst="roundRect">
            <a:avLst>
              <a:gd name="adj" fmla="val 11290"/>
            </a:avLst>
          </a:prstGeom>
          <a:solidFill>
            <a:srgbClr val="CF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4630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TARGET   </a:t>
            </a:r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silver.crm_prd_info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Transformations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280720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8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276148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product key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51560" y="3026664"/>
            <a:ext cx="99669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 characters (with '-' → '_') become cat_id; the remainder becomes the cleaned prd_key.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356158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5615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51586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missing cost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51560" y="3781044"/>
            <a:ext cx="99669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prd_cost values are replaced with 0 using ISNULL().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48640" y="4315968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315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4270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product line codes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51560" y="4535424"/>
            <a:ext cx="99669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M/R/S/T are expanded to Mountain / Road / Other Sales / Touring; anything else becomes 'n/a'.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548640" y="5070348"/>
            <a:ext cx="310896" cy="31089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0703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" y="502462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the end date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51560" y="5289804"/>
            <a:ext cx="996696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LEAD() looks ahead to the next row's start date (per prd_key) and sets prd_end_dt to one day before it.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7818120" y="493776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21295C"/>
          </a:solidFill>
          <a:ln/>
        </p:spPr>
      </p:sp>
      <p:sp>
        <p:nvSpPr>
          <p:cNvPr id="37" name="Text 35"/>
          <p:cNvSpPr/>
          <p:nvPr/>
        </p:nvSpPr>
        <p:spPr>
          <a:xfrm>
            <a:off x="8001000" y="4937760"/>
            <a:ext cx="347472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prd_key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'CO-RF-FR-R92B-58'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cat_id  'CO_RF'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prd_key 'FR-R92B-58'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 ·  BRONZE → SILVER ETL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56032"/>
            <a:ext cx="713232" cy="7132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crm_sales_details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transactions — CRM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0" y="47548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4754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281160" y="457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73768" y="47548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73768" y="4754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25328" y="457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17936" y="47548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17936" y="4754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463040"/>
            <a:ext cx="5120640" cy="566928"/>
          </a:xfrm>
          <a:prstGeom prst="roundRect">
            <a:avLst>
              <a:gd name="adj" fmla="val 11290"/>
            </a:avLst>
          </a:prstGeom>
          <a:solidFill>
            <a:srgbClr val="F5F9FB"/>
          </a:solidFill>
          <a:ln w="12700">
            <a:solidFill>
              <a:srgbClr val="E3E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14630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75"/>
                </a:solidFill>
              </a:rPr>
              <a:t>SOURCE   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bronze.crm_sales_details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06440" y="1463040"/>
            <a:ext cx="5120640" cy="566928"/>
          </a:xfrm>
          <a:prstGeom prst="roundRect">
            <a:avLst>
              <a:gd name="adj" fmla="val 11290"/>
            </a:avLst>
          </a:prstGeom>
          <a:solidFill>
            <a:srgbClr val="CF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4630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TARGET   </a:t>
            </a:r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silver.crm_sales_details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Transformations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280720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8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276148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integer dates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51560" y="3026664"/>
            <a:ext cx="9966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sls_order_dt, sls_ship_dt, sls_due_dt arrive as 8-digit integers; anything zero or not 8 digits is set to NULL, otherwise cast to DATE.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3767328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72160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 sales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51560" y="3986784"/>
            <a:ext cx="9966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sls_sales is missing, ≤ 0, or doesn't equal quantity × |price|, it's recomputed as sls_quantity * ABS(sls_price).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48640" y="4727448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27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468172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unit price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51560" y="4946904"/>
            <a:ext cx="9966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sls_price is missing or ≤ 0, it's derived as sls_sales / sls_quantity (guarded with NULLIF).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7818120" y="493776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21295C"/>
          </a:solidFill>
          <a:ln/>
        </p:spPr>
      </p:sp>
      <p:sp>
        <p:nvSpPr>
          <p:cNvPr id="33" name="Text 31"/>
          <p:cNvSpPr/>
          <p:nvPr/>
        </p:nvSpPr>
        <p:spPr>
          <a:xfrm>
            <a:off x="8001000" y="4937760"/>
            <a:ext cx="347472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sls_sales check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bad or mismatched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quantity × ABS(price)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kept as-is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 ·  BRONZE → SILVER ETL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56032"/>
            <a:ext cx="713232" cy="7132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erp_cust_az12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 — ERP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0" y="47548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4754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281160" y="457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73768" y="47548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73768" y="4754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25328" y="457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17936" y="47548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17936" y="4754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463040"/>
            <a:ext cx="5120640" cy="566928"/>
          </a:xfrm>
          <a:prstGeom prst="roundRect">
            <a:avLst>
              <a:gd name="adj" fmla="val 11290"/>
            </a:avLst>
          </a:prstGeom>
          <a:solidFill>
            <a:srgbClr val="F5F9FB"/>
          </a:solidFill>
          <a:ln w="12700">
            <a:solidFill>
              <a:srgbClr val="E3E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14630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75"/>
                </a:solidFill>
              </a:rPr>
              <a:t>SOURCE   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bronze.erp_cust_az12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06440" y="1463040"/>
            <a:ext cx="5120640" cy="566928"/>
          </a:xfrm>
          <a:prstGeom prst="roundRect">
            <a:avLst>
              <a:gd name="adj" fmla="val 11290"/>
            </a:avLst>
          </a:prstGeom>
          <a:solidFill>
            <a:srgbClr val="CF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4630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TARGET   </a:t>
            </a:r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silver.erp_cust_az12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Transformations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280720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8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276148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'NAS' prefix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51560" y="3026664"/>
            <a:ext cx="9966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cid begins with 'NAS', the prefix is removed so it can be joined to the CRM customer key.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3767328"/>
            <a:ext cx="310896" cy="31089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72160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Nullify future birthdates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51560" y="3986784"/>
            <a:ext cx="9966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bdate later than the current date is treated as bad data and set to NULL.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48640" y="4727448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27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468172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gender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51560" y="4946904"/>
            <a:ext cx="9966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'F' / 'FEMALE' → Female, 'M' / 'MALE' → Male; every other value becomes 'n/a'.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7818120" y="5303520"/>
            <a:ext cx="3794760" cy="685800"/>
          </a:xfrm>
          <a:prstGeom prst="roundRect">
            <a:avLst>
              <a:gd name="adj" fmla="val 9333"/>
            </a:avLst>
          </a:prstGeom>
          <a:solidFill>
            <a:srgbClr val="21295C"/>
          </a:solidFill>
          <a:ln/>
        </p:spPr>
      </p:sp>
      <p:sp>
        <p:nvSpPr>
          <p:cNvPr id="33" name="Text 31"/>
          <p:cNvSpPr/>
          <p:nvPr/>
        </p:nvSpPr>
        <p:spPr>
          <a:xfrm>
            <a:off x="8001000" y="5303520"/>
            <a:ext cx="34747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'NASAW00011000'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'AW00011000'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 ·  BRONZE → SILVER ETL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56032"/>
            <a:ext cx="713232" cy="7132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erp_loc_a101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location — ERP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0" y="47548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4754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281160" y="457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73768" y="47548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73768" y="4754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25328" y="457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17936" y="47548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17936" y="4754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463040"/>
            <a:ext cx="5120640" cy="566928"/>
          </a:xfrm>
          <a:prstGeom prst="roundRect">
            <a:avLst>
              <a:gd name="adj" fmla="val 11290"/>
            </a:avLst>
          </a:prstGeom>
          <a:solidFill>
            <a:srgbClr val="F5F9FB"/>
          </a:solidFill>
          <a:ln w="12700">
            <a:solidFill>
              <a:srgbClr val="E3E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14630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75"/>
                </a:solidFill>
              </a:rPr>
              <a:t>SOURCE   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bronze.erp_loc_a101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06440" y="1463040"/>
            <a:ext cx="5120640" cy="566928"/>
          </a:xfrm>
          <a:prstGeom prst="roundRect">
            <a:avLst>
              <a:gd name="adj" fmla="val 11290"/>
            </a:avLst>
          </a:prstGeom>
          <a:solidFill>
            <a:srgbClr val="CF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4630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TARGET   </a:t>
            </a:r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silver.erp_loc_a101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Transformations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280720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8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276148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customer key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51560" y="3026664"/>
            <a:ext cx="9966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Hyphens are removed from cid so it aligns with the customer key format used elsewhere in Silver.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3767328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72160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country names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51560" y="3986784"/>
            <a:ext cx="9966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'DE' → Germany, 'US'/'USA' → United States, blank or NULL → 'n/a'; other values are trimmed and kept.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7818120" y="493776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21295C"/>
          </a:solidFill>
          <a:ln/>
        </p:spPr>
      </p:sp>
      <p:sp>
        <p:nvSpPr>
          <p:cNvPr id="29" name="Text 27"/>
          <p:cNvSpPr/>
          <p:nvPr/>
        </p:nvSpPr>
        <p:spPr>
          <a:xfrm>
            <a:off x="8001000" y="4937760"/>
            <a:ext cx="347472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cntry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'US' / 'USA' → 'United States'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''  / NULL   → 'n/a'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 ·  BRONZE → SILVER ETL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56032"/>
            <a:ext cx="713232" cy="7132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erp_px_cat_g1v2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 — ERP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0" y="47548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4754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281160" y="457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73768" y="47548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73768" y="4754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25328" y="457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17936" y="47548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4EEF2"/>
          </a:solidFill>
          <a:ln w="12700">
            <a:solidFill>
              <a:srgbClr val="E4EE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17936" y="4754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463040"/>
            <a:ext cx="5120640" cy="566928"/>
          </a:xfrm>
          <a:prstGeom prst="roundRect">
            <a:avLst>
              <a:gd name="adj" fmla="val 11290"/>
            </a:avLst>
          </a:prstGeom>
          <a:solidFill>
            <a:srgbClr val="F5F9FB"/>
          </a:solidFill>
          <a:ln w="12700">
            <a:solidFill>
              <a:srgbClr val="E3E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14630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75"/>
                </a:solidFill>
              </a:rPr>
              <a:t>SOURCE   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bronze.erp_px_cat_g1v2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06440" y="1463040"/>
            <a:ext cx="5120640" cy="566928"/>
          </a:xfrm>
          <a:prstGeom prst="roundRect">
            <a:avLst>
              <a:gd name="adj" fmla="val 11290"/>
            </a:avLst>
          </a:prstGeom>
          <a:solidFill>
            <a:srgbClr val="CF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4630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TARGET   </a:t>
            </a:r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silver.erp_px_cat_g1v2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Transformations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2807208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8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276148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pass-through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51560" y="3026664"/>
            <a:ext cx="9966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cat, subcat, and maintenance are already clean in Bronze, so they load into Silver unchanged.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376732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72160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include it at all?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51560" y="3986784"/>
            <a:ext cx="9966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Truncate-and-reload still applies — the table is refreshed every run to stay in sync with its Bronze source.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7818120" y="4937760"/>
            <a:ext cx="3794760" cy="1051560"/>
          </a:xfrm>
          <a:prstGeom prst="roundRect">
            <a:avLst>
              <a:gd name="adj" fmla="val 6087"/>
            </a:avLst>
          </a:prstGeom>
          <a:solidFill>
            <a:srgbClr val="21295C"/>
          </a:solidFill>
          <a:ln/>
        </p:spPr>
      </p:sp>
      <p:sp>
        <p:nvSpPr>
          <p:cNvPr id="29" name="Text 27"/>
          <p:cNvSpPr/>
          <p:nvPr/>
        </p:nvSpPr>
        <p:spPr>
          <a:xfrm>
            <a:off x="8001000" y="4937760"/>
            <a:ext cx="347472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 loaded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id, cat, subcat,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maintenance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(no CASE logic needed)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 ·  BRONZE → SILVER ETL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 &amp; Logging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load runs inside one TRY / CATCH block, with timing captured at every step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F5F9FB"/>
          </a:solidFill>
          <a:ln w="12700">
            <a:solidFill>
              <a:srgbClr val="E3EB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TRY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58775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4414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@batch_start_time at the very start of the run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13639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9900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all six tables in sequence: CRM tables first, then ERP tables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68503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5387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table's TRUNCATE + INSERT is timed with @start_time / @end_time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423367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0873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statements report each table's load duration in seconds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" y="478231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6360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@batch_end_time is captured once all tables finish loading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533095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51846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 PRINT reports total batch duration for the whole procedure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1554480"/>
            <a:ext cx="5422392" cy="4297680"/>
          </a:xfrm>
          <a:prstGeom prst="roundRect">
            <a:avLst>
              <a:gd name="adj" fmla="val 1915"/>
            </a:avLst>
          </a:prstGeom>
          <a:solidFill>
            <a:srgbClr val="21295C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1828800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660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CATCH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37960" y="2423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step fails, execution jumps here and the procedure prints three diagnostics instead of throwing an unhandled error: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37960" y="329184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32918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ERROR_MESSAGE()   </a:t>
            </a:r>
            <a:pPr indent="0" marL="0">
              <a:buNone/>
            </a:pPr>
            <a:r>
              <a:rPr lang="en-US" sz="1050" dirty="0">
                <a:solidFill>
                  <a:srgbClr val="B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of what went wrong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37960" y="3913632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39136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ERROR_NUMBER()   </a:t>
            </a:r>
            <a:pPr indent="0" marL="0">
              <a:buNone/>
            </a:pPr>
            <a:r>
              <a:rPr lang="en-US" sz="1050" dirty="0">
                <a:solidFill>
                  <a:srgbClr val="B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Server error code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37960" y="4535424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453542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ERROR_STATE()   </a:t>
            </a:r>
            <a:pPr indent="0" marL="0">
              <a:buNone/>
            </a:pPr>
            <a:r>
              <a:rPr lang="en-US" sz="1050" dirty="0">
                <a:solidFill>
                  <a:srgbClr val="B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state, for diagnostics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37960" y="529437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CATCH block logs the error but does not re-throw or roll back —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steps should check for it explicitly.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 ·  BRONZE → SILVER ETL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521208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598932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trusted Silver Layer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21792" y="2423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Bronze tables — cleansed, standardized, and deduplicated —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the Gold layer's business-ready views.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loaded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3657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383280" y="4434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 — CRM &amp; ERP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3657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126480" y="4434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wrapped procedure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silver.load_silver;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2026-09-02T00:02:37Z</dcterms:created>
  <dcterms:modified xsi:type="dcterms:W3CDTF">2026-09-02T00:02:37Z</dcterms:modified>
</cp:coreProperties>
</file>