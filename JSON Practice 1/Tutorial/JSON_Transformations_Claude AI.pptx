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</p:sldIdLst>
  <p:notesMasterIdLst>
    <p:notesMasterId r:id="rId9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notesMaster" Target="notesMasters/notesMaster1.xml"/><Relationship Id="rId94" Type="http://schemas.openxmlformats.org/officeDocument/2006/relationships/presProps" Target="presProps.xml"/><Relationship Id="rId95" Type="http://schemas.openxmlformats.org/officeDocument/2006/relationships/viewProps" Target="viewProps.xml"/><Relationship Id="rId96" Type="http://schemas.openxmlformats.org/officeDocument/2006/relationships/theme" Target="theme/theme1.xml"/><Relationship Id="rId9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274320"/>
            <a:ext cx="4206240" cy="63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13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· JSON TRANSFORMATIONS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Transformations in Spark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tasks and solutions — from basic select() to nested arrays,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from_json()/to_json(), windows, and the Kafka streaming pipeline.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/ Spark Structured Streaming interview prep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levels · 84 tasks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DataFrame Transformations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T1-5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95681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withColumn()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T6-9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35915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T10-14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7614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T15-17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Transformations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T18-24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Transformations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T25-28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9684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T29-36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3708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+ filter()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T37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7731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T38-40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17720" y="155448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Handling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T41-42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17720" y="195681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Transformations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T43-48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235915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JSON Objects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T49-51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27614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Arrays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T52-55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316382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Orders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T56-57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17720" y="356616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Order Values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T58-60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17720" y="39684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Functions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T61-63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17720" y="43708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Functions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T64-65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17720" y="47731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from_json()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T66-67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0" y="155448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selectExpr()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T68-69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0" y="195681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alias()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T70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0" y="235915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Transformations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T71-74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0" y="27614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T75-77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0" y="316382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Transformations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T78-81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0" y="356616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Transformations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T82-83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0" y="39684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Mini Project</a:t>
            </a:r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T84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BASIC DATAFRAME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the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df.show()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BASIC DATAFRAME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the schema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df.printSchema()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BASIC DATAFRAME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specific columns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Select: user_id, name, age, city, salary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"user_id",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"city",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"salary"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BASIC DATAFRAME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nested JSON fields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Select: name, area, postal code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"address.area",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"address.postal_code"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BASIC DATAFRAME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columns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-&gt; full_name, salary -&gt; monthly_salary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df.withColumnRenamed("name", "full_name") \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.withColumnRenamed("salary", "monthly_salary") \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.show()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WITHCOLUMN()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yearly salary column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"yearly_salary",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col("salary") * 12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WITHCOLUMN()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 age category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&gt;= 30 -&gt; Senior, otherwise -&gt; Junior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"age_category",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when(col("age") &gt;= 30, "Senior")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.otherwise("Junior")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WITHCOLUMN()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salary category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"salary_category",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when(col("salary") &gt;= 15000, "High")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.when(col("salary") &gt;= 10000, "Medium")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.otherwise("Low")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WITHCOLUMN()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constant column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lit("users_json")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FILTERING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active users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col("is_active") == True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FILTERING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users older than 30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col("age") &gt; 30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FILTERING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users from Cairo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col("city") == "Cairo"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FILTERING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users from Cairo or Giza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col("city").isin("Cairo", "Giza")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FILTERING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conditions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 from Cairo earning more than 10,000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(col("is_active") == True) &amp;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(col("city") == "Cairo") &amp;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(col("salary") &gt; 10000)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SORTING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by salary ascending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df.orderBy("salary").show()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SORTING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by salary descending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df.orderBy(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col("salary").desc()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SORTING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by department and salary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df.orderBy(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col("department"),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col("salary").desc()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STRING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names to uppercase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"name_upper",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upper("name")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STRING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names to lowercase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"name_lower",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lower("name")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STRING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first name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"first_name",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split(col("name"), " ").getItem(0)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STRING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last name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"last_name",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split(col("name"), " ").getItem(1)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STRING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name length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"name_length",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length("name")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STRING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part of an email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regexp_replace("email", "@example.com", "@company.com")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STRING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username from email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split("email", "@").getItem(0)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· DATE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join_date to date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"join_date",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to_date("join_date")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· DATE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joining year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"join_year",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year("join_date")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· DATE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joining month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"join_month",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month("join_date")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· DATE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years since joining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"years_since_joining",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year(current_date()) - year("join_date")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AGGREGATIONS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users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df.count()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AGGREGATIONS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salary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avg("salary").alias("average_salary")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AGGREGATIONS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salary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max("salary").alias("max_salary")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AGGREGATIONS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salary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min("salary").alias("min_salary")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AGGREGATIONS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salaries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sum("salary").alias("total_salary")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AGGREGATIONS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users per city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df.groupBy("city") \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.count() \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.show()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AGGREGATIONS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salary per department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df.groupBy("department") \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avg("salary").alias("avg_salary")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\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.show()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AGGREGATIONS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aggregations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df.groupBy("department").agg(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count("*").alias("employees"),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avg("salary").alias("avg_salary"),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min("salary").alias("min_salary"),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max("salary").alias("max_salary"),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sum("salary").alias("total_salary")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8 · GROUPBY() + FILTER()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Departments with avg salary &gt; 10,000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df.groupBy("department") \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avg("salary").alias("avg_salary")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\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col("avg_salary") &gt; 10000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\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.show()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9 · NULL HANDLING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nulls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df.select([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when(col(c).isNull(), c)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).alias(c)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c in df.columns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]).show()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9 · NULL HANDLING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rows containing nulls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df.dropna().show()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9 · NULL HANDLING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null values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df.fillna({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"salary": 0,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"city": "Unknown"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}).show()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10 · DUPLICATE HANDLING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 users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df.dropDuplicates().show()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10 · DUPLICATE HANDLING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 based on user_id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df.dropDuplicates(["user_id"]).show()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11 · ARRAY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skills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["Python", "SQL", "Spark"]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"skills"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11 · ARRAY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first skill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col("skills")[0].alias("first_skill")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11 · ARRAY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number of skills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size("skills").alias("number_of_skills")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11 · ARRAY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whether user knows Python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array_contains("skills", "Python").alias("knows_python")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11 · ARRAY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Explode skills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(name, skill) pair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explode("skills").alias("skill")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11 · ARRAY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explode_outer()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explode(), but keeps rows with empty/null arrays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explode_outer("skills").alias("skill")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12 · NESTED JSON OBJECTS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the entire address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address: street, area, postal_code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"address"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12 · NESTED JSON OBJECTS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individual nested fields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col("address.street"),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col("address.area"),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col("address.postal_code")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12 · NESTED JSON OBJECTS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full address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"full_address",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concat_ws(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", 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"address.street",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"address.area",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"address.postal_code"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13 · NESTED ARRAYS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orders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[{order_id, product, quantity, price}, ...]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"orders"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2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13 · NESTED ARRAYS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first order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col("orders")[0].alias("first_order")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2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13 · NESTED ARRAYS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first order's product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col("orders")[0]["product"].alias("product")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13 · NESTED ARRAYS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orders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size("orders").alias("order_count")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14 · EXPLODE ORDERS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Explode orders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 = 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"user_id",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explode("orders").alias("order")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orders_df.show(truncate=False)</a:t>
            </a:r>
            <a:endParaRPr lang="en-US" sz="2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14 · EXPLODE ORDERS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order fields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order_id, product, quantity, price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"user_id",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col("order.order_id").alias("order_id"),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col("order.product").alias("product"),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col("order.quantity").alias("quantity"),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col("order.price").alias("price")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15 · CALCULATE ORDER VALUES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total order value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 = orders_df.withColumn(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col("order.quantity") * col("order.price")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orders_df.show()</a:t>
            </a:r>
            <a:endParaRPr lang="en-US" sz="2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15 · CALCULATE ORDER VALUES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expensive orders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orders_df.filter(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col("total") &gt; 10000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15 · CALCULATE ORDER VALUES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total spending per user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orders_df.groupBy(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"user_id",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).agg(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col("order.quantity") * col("order.price")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).alias("total_spending")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16 · ARRAY FUNCTIONS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skills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sort_array("skills").alias("sorted_skills")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2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16 · ARRAY FUNCTIONS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skills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reverse("skills").alias("reversed_skills")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2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16 · ARRAY FUNCTIONS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skills into a string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concat_ws(", ", "skills").alias("skills_string")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17 · JSON FUNCTIONS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a struct to JSON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{"street":"Nile Street","area":"Maadi","postal_code":"11728"}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to_json("address").alias("address_json")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2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17 · JSON FUNCTIONS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orders to JSON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to_json("orders").alias("orders_json")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2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18 · FROM_JSON()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JSON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json_df of raw strings + a StructType schema first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json_df = spark.createDataFrame([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('{"id":101,"name":"Ahmed","age":25}',),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('{"id":102,"name":"Youssef","age":28}',)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["json_string"])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StructType([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StructField("id", IntegerType()),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StructField("name", StringType()),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StructField("age", IntegerType())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 = json_df.withColumn(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"data",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from_json("json_string", schema)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parsed_df.show(truncate=False)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18 · FROM_JSON()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parsed fields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used with Kafka: value -&gt; cast(string) -&gt; from_json() -&gt; select("data.*")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"data.id",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"data.name",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"data.age"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19 · SELECTEXPR()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SQL expressions instead of select()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df.selectExpr(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"salary",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"salary * 12 AS yearly_salary"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19 · SELECTEXPR()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SQL expressions for filtering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df.selectExpr(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"department",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"salary"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).filter(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"salary &gt; 10000"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20 · ALIAS()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expressions using alias()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col("name").alias("employee_name"),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col("salary").alias("monthly_salary"),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(col("salary") * 12).alias("yearly_salary")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21 · PARTITION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number of partitions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df.rdd.getNumPartitions()</a:t>
            </a:r>
            <a:endParaRPr lang="en-US" sz="2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21 · PARTITION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Repartition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df.repartition(4)</a:t>
            </a:r>
            <a:endParaRPr lang="en-US" sz="2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21 · PARTITION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Repartition by city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df.repartition(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"city"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21 · PARTITION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Coalesce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repartition(): can increase/decrease, usually shuffles.  coalesce(): usually decreases, avoids full shuffle.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df3 = df.coalesce(2)</a:t>
            </a:r>
            <a:endParaRPr lang="en-US" sz="2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22 · SET OPERATIONS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df1 = df.filter(age &gt; 30)   df2 = df.filter(salary &gt; 15000)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df1.union(df2).show()</a:t>
            </a:r>
            <a:endParaRPr lang="en-US" sz="2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22 · SET OPERATIONS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by column name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df1.unionByName(df2).show()</a:t>
            </a:r>
            <a:endParaRPr lang="en-US" sz="2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22 · SET OPERATIONS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df1.union(df2).distinct().show()</a:t>
            </a:r>
            <a:endParaRPr lang="en-US" sz="2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23 · WINDOW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employees by salary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pyspark.sql.window import Window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window_spec = Window.orderBy(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col("salary").desc()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"rank",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rank().over(window_spec)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23 · WINDOW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employees inside each department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window_spec = Window.partitionBy(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"department"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).orderBy(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col("salary").desc()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"rank",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rank().over(window_spec)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23 · WINDOW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row_number()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"row_number",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row_number().over(window_spec)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23 · WINDOW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dense_rank()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"dense_rank",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dense_rank().over(window_spec)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24 · CONDITIONAL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Categorize users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"level",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when(col("salary") &gt;= 15000, "Senior")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.when(col("salary") &gt;= 10000, "Mid-Level")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.otherwise("Junior")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2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24 · CONDITIONAL TRANSFORMATIONS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conditions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"employee_type",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when(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(col("age") &gt;= 30) &amp;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(col("salary") &gt;= 12000),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"Experienced"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col("age") &lt; 25,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"Young"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.otherwise("Regular")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1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25 · FINAL MINI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final employee dataset  (part 1 of 2)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columns: user_id, first_name, last_name, city, department, age, salary, yearly_salary, salary_category, join_year, number_of_skills, number_of_orders, full_address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130552"/>
            <a:ext cx="102412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final_df = (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.withColumn("first_name", split("name", " ").getItem(0))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.withColumn("last_name", split("name", " ").getItem(1))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.withColumn("yearly_salary", col("salary") * 12)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"salary_category",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when(col("salary") &gt;= 15000, "High")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.when(col("salary") &gt;= 10000, "Medium")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.otherwise("Low")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.withColumn("join_year", year("join_date"))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.withColumn("number_of_skills", size("skills"))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... continued on next slide --&gt;</a:t>
            </a:r>
            <a:endParaRPr lang="en-US" sz="1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25 · FINAL MINI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61320" y="32004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320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final employee dataset  (part 2 of 2)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49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381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56232"/>
            <a:ext cx="102412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final_df = 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... (first_name ... number_of_skills, see previous slide)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.withColumn("number_of_orders", size("orders"))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"full_address",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concat_ws(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", 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"address.street",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"address.area",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"address.postal_code"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.select(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"user_id", "first_name", "last_name", "city",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"department", "age", "salary", "yearly_salary",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"salary_category", "join_year", "number_of_skills",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"number_of_orders", "full_address"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final_df.show(truncate=False)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JSON Practice to Kafka Streaming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bridge between the JSON tasks above and Spark Structured Streaming + Kafka projects.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1772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61772" y="233172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 value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632204" y="233172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23644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0B4F6C"/>
          </a:solidFill>
          <a:ln/>
        </p:spPr>
      </p:sp>
      <p:sp>
        <p:nvSpPr>
          <p:cNvPr id="8" name="Text 6"/>
          <p:cNvSpPr/>
          <p:nvPr/>
        </p:nvSpPr>
        <p:spPr>
          <a:xfrm>
            <a:off x="1723644" y="233172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cast(str)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94076" y="233172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85516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985516" y="233172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from_json()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55948" y="233172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47388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4247388" y="233172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StructType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17820" y="233172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09260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509260" y="233172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JSON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79692" y="233172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71132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0B4F6C"/>
          </a:solidFill>
          <a:ln/>
        </p:spPr>
      </p:sp>
      <p:sp>
        <p:nvSpPr>
          <p:cNvPr id="20" name="Text 18"/>
          <p:cNvSpPr/>
          <p:nvPr/>
        </p:nvSpPr>
        <p:spPr>
          <a:xfrm>
            <a:off x="6771132" y="233172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explode()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1564" y="233172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33004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033004" y="233172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03436" y="233172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294876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0B4F6C"/>
          </a:solidFill>
          <a:ln/>
        </p:spPr>
      </p:sp>
      <p:sp>
        <p:nvSpPr>
          <p:cNvPr id="26" name="Text 24"/>
          <p:cNvSpPr/>
          <p:nvPr/>
        </p:nvSpPr>
        <p:spPr>
          <a:xfrm>
            <a:off x="9294876" y="233172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465308" y="233172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556748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10556748" y="233172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3611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extra attention to these for your streaming goal: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40690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069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from_json()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83280" y="40690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4069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to_json()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40690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4069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StructType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869680" y="40690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0" y="4069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StructField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" y="470916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709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ArrayType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383280" y="470916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4709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explode()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26480" y="470916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4709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explode_outer()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869680" y="470916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0" y="4709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structs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0080" y="53492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349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arrays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83280" y="53492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5349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select()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26480" y="53492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5349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withColumn()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869680" y="53492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69680" y="5349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40080" y="5989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5989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383280" y="5989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42B3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0" y="5989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agg()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Dataset Lets You Practice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-&gt; functions / transformations  (1 of 2)</a:t>
            </a:r>
            <a:endParaRPr lang="en-US" sz="120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50292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FUNCTIONS / TRANSFORMATIONS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select(), selectExpr()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withColumn(), withColumnRenamed(), alias()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filter(), where()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orderBy(), sort()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when(), otherwise()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lit()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upper(), lower(), length(), split(), regexp_replace()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to_date(), year(), month(), current_date()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count(), sum(), avg(), min(), max()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groupBy(), agg()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Dataset Lets You Practice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-&gt; functions / transformations  (2 of 2)</a:t>
            </a:r>
            <a:endParaRPr lang="en-US" sz="12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50292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FUNCTIONS / TRANSFORMATIONS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dropna(), fillna(), isNull()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dropDuplicates(), distinct()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size(), explode(), explode_outer(), array_contains(), sort_array()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Nested field access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from_json(), to_json()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Struct + Array + Array of Struct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repartition(), coalesce()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operations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union(), unionByName()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row_number(), rank(), dense_rank()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logic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when() / otherwise()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tasks. 25 levels. One dataset.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select() -&gt; filter() -&gt; groupBy() -&gt; explode() -&gt; from_json()/to_json() -&gt; window functions -&gt; Kafka streaming.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Spark &amp; Big Data interviews.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91</Slides>
  <Notes>91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2026-08-18T20:59:24Z</dcterms:created>
  <dcterms:modified xsi:type="dcterms:W3CDTF">2026-08-18T20:59:24Z</dcterms:modified>
</cp:coreProperties>
</file>